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0"/>
            <a:ext cx="12191695" cy="25400"/>
          </a:xfrm>
          <a:prstGeom prst="rect">
            <a:avLst/>
          </a:prstGeom>
          <a:solidFill>
            <a:srgbClr val="2C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THE NEW RICOMAN WEBSITE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9D6EC"/>
                </a:solidFill>
                <a:latin typeface="Calibri"/>
              </a:rPr>
              <a:t>Faster, cheaper to run, more reliable — and it wins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FB2D4"/>
                </a:solidFill>
                <a:latin typeface="Calibri"/>
              </a:rPr>
              <a:t>A plain-English summary for the leadership report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F95BF"/>
                </a:solidFill>
                <a:latin typeface="Calibri"/>
              </a:rPr>
              <a:t>No technical knowledge needed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234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D4ED8"/>
                </a:solidFill>
                <a:latin typeface="Calibri"/>
              </a:rPr>
              <a:t>OVERVIEW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0B0C"/>
                </a:solidFill>
                <a:latin typeface="Calibri"/>
              </a:rPr>
              <a:t>In one sentence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254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1064240" cy="2926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46304" cy="29260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1024128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400" b="1">
                <a:solidFill>
                  <a:srgbClr val="0B0B0C"/>
                </a:solidFill>
                <a:latin typeface="Calibri"/>
              </a:rPr>
              <a:t>We haven't just repainted ricoman.com.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6335C"/>
                </a:solidFill>
                <a:latin typeface="Calibri"/>
              </a:rPr>
              <a:t>We rebuilt it on modern foundations that are faster for customers, cheaper and more reliable to run, and far easier for the team to keep up to date — while quietly fixing years of hidden technical problems. And it does real commercial work: it captures sales leads, builds its own SEO, and lets customers design and specify products themselves.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846320"/>
            <a:ext cx="3566160" cy="8686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846320"/>
            <a:ext cx="3566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FASTER &amp; CHEAPER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5112" y="4846320"/>
            <a:ext cx="3566160" cy="86868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4846320"/>
            <a:ext cx="3566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MORE RELIABLE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1584" y="4846320"/>
            <a:ext cx="3566160" cy="868680"/>
          </a:xfrm>
          <a:prstGeom prst="rect">
            <a:avLst/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4" y="4846320"/>
            <a:ext cx="3566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WINS BUSINESS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26D"/>
                </a:solidFill>
                <a:latin typeface="Calibri"/>
              </a:rPr>
              <a:t>Ricoman — the new website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26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234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D4ED8"/>
                </a:solidFill>
                <a:latin typeface="Calibri"/>
              </a:rPr>
              <a:t>1 · WHAT WE FIXED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0B0C"/>
                </a:solidFill>
                <a:latin typeface="Calibri"/>
              </a:rPr>
              <a:t>Years of hidden technical debt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254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B626D"/>
                </a:solidFill>
                <a:latin typeface="Calibri"/>
              </a:rPr>
              <a:t>Invisible from the front end — but costing money and putting the business at risk.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3566160" cy="1554480"/>
          </a:xfrm>
          <a:prstGeom prst="rect">
            <a:avLst/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75,911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9D6EC"/>
                </a:solidFill>
                <a:latin typeface="Calibri"/>
              </a:rPr>
              <a:t>images in the old media library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2011680"/>
            <a:ext cx="3566160" cy="1554480"/>
          </a:xfrm>
          <a:prstGeom prst="rect">
            <a:avLst/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214884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91%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97180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9D6EC"/>
                </a:solidFill>
                <a:latin typeface="Calibri"/>
              </a:rPr>
              <a:t>were exact duplicates (69,315)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1584" y="2011680"/>
            <a:ext cx="3566160" cy="1554480"/>
          </a:xfrm>
          <a:prstGeom prst="rect">
            <a:avLst/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4" y="214884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248 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97180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9D6EC"/>
                </a:solidFill>
                <a:latin typeface="Calibri"/>
              </a:rPr>
              <a:t>of bloat — backups failing since ~Oct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31920"/>
            <a:ext cx="11064240" cy="20116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146304" cy="201168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B0B0C"/>
                </a:solidFill>
                <a:latin typeface="Calibri"/>
              </a:rPr>
              <a:t>The fix — and the payoff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B0B0C"/>
                </a:solidFill>
                <a:latin typeface="Calibri"/>
              </a:rPr>
              <a:t>▸ Built-in Media Cleanup</a:t>
            </a:r>
            <a:r>
              <a:rPr sz="1500" b="0">
                <a:solidFill>
                  <a:srgbClr val="5B626D"/>
                </a:solidFill>
                <a:latin typeface="Calibri"/>
              </a:rPr>
              <a:t>  removed the duplicates safely.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B0B0C"/>
                </a:solidFill>
                <a:latin typeface="Calibri"/>
              </a:rPr>
              <a:t>▸ Backups reliable again</a:t>
            </a:r>
            <a:r>
              <a:rPr sz="1500" b="0">
                <a:solidFill>
                  <a:srgbClr val="5B626D"/>
                </a:solidFill>
                <a:latin typeface="Calibri"/>
              </a:rPr>
              <a:t>  smaller, faster, and actually completing.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B0B0C"/>
                </a:solidFill>
                <a:latin typeface="Calibri"/>
              </a:rPr>
              <a:t>▸ Lower, predictable hosting cost</a:t>
            </a:r>
            <a:r>
              <a:rPr sz="1500" b="0">
                <a:solidFill>
                  <a:srgbClr val="5B626D"/>
                </a:solidFill>
                <a:latin typeface="Calibri"/>
              </a:rPr>
              <a:t>  we store a fraction of the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26D"/>
                </a:solidFill>
                <a:latin typeface="Calibri"/>
              </a:rPr>
              <a:t>Ricoman — the new website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26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234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D4ED8"/>
                </a:solidFill>
                <a:latin typeface="Calibri"/>
              </a:rPr>
              <a:t>BY THE NUMBERS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0B0C"/>
                </a:solidFill>
                <a:latin typeface="Calibri"/>
              </a:rPr>
              <a:t>Old site → new site, in real figures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254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3566160" cy="1783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3566160" cy="384048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3566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MEDIA LIBRARY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5B626D"/>
                </a:solidFill>
                <a:latin typeface="Calibri"/>
              </a:rPr>
              <a:t>75,911 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41448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4ED8"/>
                </a:solidFill>
                <a:latin typeface="Calibri"/>
              </a:rPr>
              <a:t>▼  −91%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15768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A7F37"/>
                </a:solidFill>
                <a:latin typeface="Calibri"/>
              </a:rPr>
              <a:t>6,596 unique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1600200"/>
            <a:ext cx="3566160" cy="1783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600200"/>
            <a:ext cx="3566160" cy="384048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5112" y="1600200"/>
            <a:ext cx="3566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DUPLICATE IMAGES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5112" y="205740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5B626D"/>
                </a:solidFill>
                <a:latin typeface="Calibri"/>
              </a:rPr>
              <a:t>69,315 dupes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2441448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4ED8"/>
                </a:solidFill>
                <a:latin typeface="Calibri"/>
              </a:rPr>
              <a:t>removed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2715768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A7F37"/>
                </a:solidFill>
                <a:latin typeface="Calibri"/>
              </a:rPr>
              <a:t>0 duplicates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3" y="1600200"/>
            <a:ext cx="3520440" cy="1783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3" y="1600200"/>
            <a:ext cx="3520440" cy="384048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01583" y="1600200"/>
            <a:ext cx="3520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HOSTING BACKUPS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1583" y="2057400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5B626D"/>
                </a:solidFill>
                <a:latin typeface="Calibri"/>
              </a:rPr>
              <a:t>248 GB, failing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2441448"/>
            <a:ext cx="3520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4ED8"/>
                </a:solidFill>
                <a:latin typeface="Calibri"/>
              </a:rPr>
              <a:t>fixed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3" y="2715768"/>
            <a:ext cx="3520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A7F37"/>
                </a:solidFill>
                <a:latin typeface="Calibri"/>
              </a:rPr>
              <a:t>Reliable backups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49039"/>
            <a:ext cx="11064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88620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B0B0C"/>
                </a:solidFill>
                <a:latin typeface="Calibri"/>
              </a:rPr>
              <a:t>What changed for the business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38912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0B0B0C"/>
                </a:solidFill>
                <a:latin typeface="Calibri"/>
              </a:rPr>
              <a:t>▸ 91% of the media library was waste</a:t>
            </a:r>
            <a:r>
              <a:rPr sz="1350" b="0">
                <a:solidFill>
                  <a:srgbClr val="5B626D"/>
                </a:solidFill>
                <a:latin typeface="Calibri"/>
              </a:rPr>
              <a:t>  — 69,315 of 75,911 images were exact duplicates from the old variant import.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0B0B0C"/>
                </a:solidFill>
                <a:latin typeface="Calibri"/>
              </a:rPr>
              <a:t>▸ Backups had been failing since ~Oct 2025</a:t>
            </a:r>
            <a:r>
              <a:rPr sz="1350" b="0">
                <a:solidFill>
                  <a:srgbClr val="5B626D"/>
                </a:solidFill>
                <a:latin typeface="Calibri"/>
              </a:rPr>
              <a:t>  — ballooned to 248 GB; cleaning the duplicates made them reliable again.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0B0B0C"/>
                </a:solidFill>
                <a:latin typeface="Calibri"/>
              </a:rPr>
              <a:t>▸ Lead capture: none → 5 routes</a:t>
            </a:r>
            <a:r>
              <a:rPr sz="1350" b="0">
                <a:solidFill>
                  <a:srgbClr val="5B626D"/>
                </a:solidFill>
                <a:latin typeface="Calibri"/>
              </a:rPr>
              <a:t>  — download gate, BIM request, newsletter, callback and saved-project packs.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0B0B0C"/>
                </a:solidFill>
                <a:latin typeface="Calibri"/>
              </a:rPr>
              <a:t>▸ Product edits: developer-only → self-serve</a:t>
            </a:r>
            <a:r>
              <a:rPr sz="1350" b="0">
                <a:solidFill>
                  <a:srgbClr val="5B626D"/>
                </a:solidFill>
                <a:latin typeface="Calibri"/>
              </a:rPr>
              <a:t>  — the team now edits spec tables and pages with no code.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26D"/>
                </a:solidFill>
                <a:latin typeface="Calibri"/>
              </a:rPr>
              <a:t>Figures from the media-cleanup audit of the migrated database. Live page-speed scores are measured at launch via the built-in SEO &amp; Speed tool.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26D"/>
                </a:solidFill>
                <a:latin typeface="Calibri"/>
              </a:rPr>
              <a:t>Ricoman — the new website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26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234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D4ED8"/>
                </a:solidFill>
                <a:latin typeface="Calibri"/>
              </a:rPr>
              <a:t>2 · EASIER TO RUN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0B0C"/>
                </a:solidFill>
                <a:latin typeface="Calibri"/>
              </a:rPr>
              <a:t>The team runs it themselves — no developer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254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800" b="1">
                <a:solidFill>
                  <a:srgbClr val="0B0B0C"/>
                </a:solidFill>
                <a:latin typeface="Calibri"/>
              </a:rPr>
              <a:t>▸ Self-serve product pages.</a:t>
            </a:r>
            <a:r>
              <a:rPr sz="1800" b="0">
                <a:solidFill>
                  <a:srgbClr val="5B626D"/>
                </a:solidFill>
                <a:latin typeface="Calibri"/>
              </a:rPr>
              <a:t>  Edit the spec and variant tables (including which columns show) and drop content blocks into any product page — no code.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800" b="1">
                <a:solidFill>
                  <a:srgbClr val="0B0B0C"/>
                </a:solidFill>
                <a:latin typeface="Calibri"/>
              </a:rPr>
              <a:t>▸ Editable landing pages.</a:t>
            </a:r>
            <a:r>
              <a:rPr sz="1800" b="0">
                <a:solidFill>
                  <a:srgbClr val="5B626D"/>
                </a:solidFill>
                <a:latin typeface="Calibri"/>
              </a:rPr>
              <a:t>  Casambi, Human Centric, Fire Safety, Made in Britain, Sustainability, Trade and more are all built from editable blocks.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sz="1800" b="1">
                <a:solidFill>
                  <a:srgbClr val="0B0B0C"/>
                </a:solidFill>
                <a:latin typeface="Calibri"/>
              </a:rPr>
              <a:t>▸ One-click content tools</a:t>
            </a:r>
            <a:r>
              <a:rPr sz="1800" b="0">
                <a:solidFill>
                  <a:srgbClr val="5B626D"/>
                </a:solidFill>
                <a:latin typeface="Calibri"/>
              </a:rPr>
              <a:t>  for SEO copy and page layouts — they fill in starter content but never overwrite anything the team has written.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26D"/>
                </a:solidFill>
                <a:latin typeface="Calibri"/>
              </a:rPr>
              <a:t>Ricoman — the new website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26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234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D4ED8"/>
                </a:solidFill>
                <a:latin typeface="Calibri"/>
              </a:rPr>
              <a:t>3 · IT MARKETS ITSELF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0B0C"/>
                </a:solidFill>
                <a:latin typeface="Calibri"/>
              </a:rPr>
              <a:t>Search visibility, built 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254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600" b="1">
                <a:solidFill>
                  <a:srgbClr val="0B0B0C"/>
                </a:solidFill>
                <a:latin typeface="Calibri"/>
              </a:rPr>
              <a:t>▸ Automatic internal link-building.</a:t>
            </a:r>
            <a:r>
              <a:rPr sz="1600" b="0">
                <a:solidFill>
                  <a:srgbClr val="5B626D"/>
                </a:solidFill>
                <a:latin typeface="Calibri"/>
              </a:rPr>
              <a:t>  News and project stories auto-link relevant terms to the right product, category and sector pages.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600" b="1">
                <a:solidFill>
                  <a:srgbClr val="0B0B0C"/>
                </a:solidFill>
                <a:latin typeface="Calibri"/>
              </a:rPr>
              <a:t>▸ Spec filtering for specifiers.</a:t>
            </a:r>
            <a:r>
              <a:rPr sz="1600" b="0">
                <a:solidFill>
                  <a:srgbClr val="5B626D"/>
                </a:solidFill>
                <a:latin typeface="Calibri"/>
              </a:rPr>
              <a:t>  Filter category pages by light output (lumens) and power (wattage) from the real product data.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600" b="1">
                <a:solidFill>
                  <a:srgbClr val="0B0B0C"/>
                </a:solidFill>
                <a:latin typeface="Calibri"/>
              </a:rPr>
              <a:t>▸ Keyword-rich landing pages.</a:t>
            </a:r>
            <a:r>
              <a:rPr sz="1600" b="0">
                <a:solidFill>
                  <a:srgbClr val="5B626D"/>
                </a:solidFill>
                <a:latin typeface="Calibri"/>
              </a:rPr>
              <a:t>  Each category and key page has its own SEO title, description and intro/FAQ copy.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600" b="1">
                <a:solidFill>
                  <a:srgbClr val="0B0B0C"/>
                </a:solidFill>
                <a:latin typeface="Calibri"/>
              </a:rPr>
              <a:t>▸ Rich Google results.</a:t>
            </a:r>
            <a:r>
              <a:rPr sz="1600" b="0">
                <a:solidFill>
                  <a:srgbClr val="5B626D"/>
                </a:solidFill>
                <a:latin typeface="Calibri"/>
              </a:rPr>
              <a:t>  Structured data for enhanced listings — business details, products, breadcrumbs and FAQs in search.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600" b="1">
                <a:solidFill>
                  <a:srgbClr val="0B0B0C"/>
                </a:solidFill>
                <a:latin typeface="Calibri"/>
              </a:rPr>
              <a:t>▸ Built-in SEO health check.</a:t>
            </a:r>
            <a:r>
              <a:rPr sz="1600" b="0">
                <a:solidFill>
                  <a:srgbClr val="5B626D"/>
                </a:solidFill>
                <a:latin typeface="Calibri"/>
              </a:rPr>
              <a:t>  See at a glance which pages need attention.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26D"/>
                </a:solidFill>
                <a:latin typeface="Calibri"/>
              </a:rPr>
              <a:t>Ricoman — the new website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26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234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D4ED8"/>
                </a:solidFill>
                <a:latin typeface="Calibri"/>
              </a:rPr>
              <a:t>4 · IT CAPTURES SALES LEADS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0B0C"/>
                </a:solidFill>
                <a:latin typeface="Calibri"/>
              </a:rPr>
              <a:t>An active sales tool, not a brochure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254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0B0B0C"/>
                </a:solidFill>
                <a:latin typeface="Calibri"/>
              </a:rPr>
              <a:t>▸ Download gate.</a:t>
            </a:r>
            <a:r>
              <a:rPr sz="1500" b="0">
                <a:solidFill>
                  <a:srgbClr val="5B626D"/>
                </a:solidFill>
                <a:latin typeface="Calibri"/>
              </a:rPr>
              <a:t>  Document downloads ask for name, email and customer type — turning anonymous traffic into named leads.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0B0B0C"/>
                </a:solidFill>
                <a:latin typeface="Calibri"/>
              </a:rPr>
              <a:t>▸ Newsletter &amp; request-a-callback</a:t>
            </a:r>
            <a:r>
              <a:rPr sz="1500" b="0">
                <a:solidFill>
                  <a:srgbClr val="5B626D"/>
                </a:solidFill>
                <a:latin typeface="Calibri"/>
              </a:rPr>
              <a:t>  forms feed the same pipeline.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0B0B0C"/>
                </a:solidFill>
                <a:latin typeface="Calibri"/>
              </a:rPr>
              <a:t>▸ Every lead in one place.</a:t>
            </a:r>
            <a:r>
              <a:rPr sz="1500" b="0">
                <a:solidFill>
                  <a:srgbClr val="5B626D"/>
                </a:solidFill>
                <a:latin typeface="Calibri"/>
              </a:rPr>
              <a:t>  A leads dashboard (type, contact, source, date) that can sync to a spreadsheet / CRM.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0B0B0C"/>
                </a:solidFill>
                <a:latin typeface="Calibri"/>
              </a:rPr>
              <a:t>▸ Saved projects &amp; project packs</a:t>
            </a:r>
            <a:r>
              <a:rPr sz="1500" b="0">
                <a:solidFill>
                  <a:srgbClr val="5B626D"/>
                </a:solidFill>
                <a:latin typeface="Calibri"/>
              </a:rPr>
              <a:t>  — customers save lists and download a zipped pack of datasheets, instructions and photometric files.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983480"/>
            <a:ext cx="11064240" cy="1143000"/>
          </a:xfrm>
          <a:prstGeom prst="rect">
            <a:avLst/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983480"/>
            <a:ext cx="146304" cy="1143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515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"Download BIM file" on every product page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6EC"/>
                </a:solidFill>
                <a:latin typeface="Calibri"/>
              </a:rPr>
              <a:t>Specifiers drop BIM/Revit files straight into their building models — high-intent. Each request is logged as a lead and emailed to marketing with the exact product being specified. The moment a designer reaches for our product, marketing gets a warm lead.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26D"/>
                </a:solidFill>
                <a:latin typeface="Calibri"/>
              </a:rPr>
              <a:t>Ricoman — the new 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26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234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D4ED8"/>
                </a:solidFill>
                <a:latin typeface="Calibri"/>
              </a:rPr>
              <a:t>5 · CUSTOMERS DESIGN THEIR OWN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0B0C"/>
                </a:solidFill>
                <a:latin typeface="Calibri"/>
              </a:rPr>
              <a:t>The Flow+ Designer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254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B626D"/>
                </a:solidFill>
                <a:latin typeface="Calibri"/>
              </a:rPr>
              <a:t>A full-screen, in-browser tool to design a bespoke curved linear scheme — self-serve.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0B0B0C"/>
                </a:solidFill>
                <a:latin typeface="Calibri"/>
              </a:rPr>
              <a:t>▸ Draw the run.</a:t>
            </a:r>
            <a:r>
              <a:rPr sz="1500" b="0">
                <a:solidFill>
                  <a:srgbClr val="5B626D"/>
                </a:solidFill>
                <a:latin typeface="Calibri"/>
              </a:rPr>
              <a:t>  Drag in straights, curves and corners to any shape and custom length, with auto-snap so pieces join cleanly.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0B0B0C"/>
                </a:solidFill>
                <a:latin typeface="Calibri"/>
              </a:rPr>
              <a:t>▸ Design to scale on a real plan.</a:t>
            </a:r>
            <a:r>
              <a:rPr sz="1500" b="0">
                <a:solidFill>
                  <a:srgbClr val="5B626D"/>
                </a:solidFill>
                <a:latin typeface="Calibri"/>
              </a:rPr>
              <a:t>  Upload a CAD drawing / floor plan, set the scale, and lay the lighting out over the actual space.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0B0B0C"/>
                </a:solidFill>
                <a:latin typeface="Calibri"/>
              </a:rPr>
              <a:t>▸ Choose the spec.</a:t>
            </a:r>
            <a:r>
              <a:rPr sz="1500" b="0">
                <a:solidFill>
                  <a:srgbClr val="5B626D"/>
                </a:solidFill>
                <a:latin typeface="Calibri"/>
              </a:rPr>
              <a:t>  Colour temperature, DALI / Casambi dimming, drivers, RAL finish and emergency packs.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0B0B0C"/>
                </a:solidFill>
                <a:latin typeface="Calibri"/>
              </a:rPr>
              <a:t>▸ Instant 'Take Off'.</a:t>
            </a:r>
            <a:r>
              <a:rPr sz="1500" b="0">
                <a:solidFill>
                  <a:srgbClr val="5B626D"/>
                </a:solidFill>
                <a:latin typeface="Calibri"/>
              </a:rPr>
              <a:t>  A live parts list with the correct Ricoman order codes — so what they design is exactly what we quote and build.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0B0B0C"/>
                </a:solidFill>
                <a:latin typeface="Calibri"/>
              </a:rPr>
              <a:t>▸ Export &amp; save</a:t>
            </a:r>
            <a:r>
              <a:rPr sz="1500" b="0">
                <a:solidFill>
                  <a:srgbClr val="5B626D"/>
                </a:solidFill>
                <a:latin typeface="Calibri"/>
              </a:rPr>
              <a:t>  as an image or take-off, and save straight to their project.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57800"/>
            <a:ext cx="11064240" cy="9144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257800"/>
            <a:ext cx="146304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0424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335C"/>
                </a:solidFill>
                <a:latin typeface="Calibri"/>
              </a:rPr>
              <a:t>Why it matters:  bespoke quoting used to mean lots of back-and-forth. Now the customer arrives with a ready-to-quote, fully specified design — shorter sales cycle, fewer errors, a detailed high-intent enquiry.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26D"/>
                </a:solidFill>
                <a:latin typeface="Calibri"/>
              </a:rPr>
              <a:t>Ricoman — the new website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26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234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D4ED8"/>
                </a:solidFill>
                <a:latin typeface="Calibri"/>
              </a:rPr>
              <a:t>6 · PERFORMANCE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0B0C"/>
                </a:solidFill>
                <a:latin typeface="Calibri"/>
              </a:rPr>
              <a:t>Faster — and built to stay fast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254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1498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1">
                <a:solidFill>
                  <a:srgbClr val="0B0B0C"/>
                </a:solidFill>
                <a:latin typeface="Calibri"/>
              </a:rPr>
              <a:t>Rendered natively and efficiently — no heavy page-builder overhead.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6335C"/>
                </a:solidFill>
                <a:latin typeface="Calibri"/>
              </a:rPr>
              <a:t>Images are served in modern, lightweight formats, and each page loads only the code it needs. The result: a quicker experience for customers and better search rankings (Google factors in page speed).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26D"/>
                </a:solidFill>
                <a:latin typeface="Calibri"/>
              </a:rPr>
              <a:t>Ricoman — the new website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26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234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D4ED8"/>
                </a:solidFill>
                <a:latin typeface="Calibri"/>
              </a:rPr>
              <a:t>ROADMAP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0B0C"/>
                </a:solidFill>
                <a:latin typeface="Calibri"/>
              </a:rPr>
              <a:t>Where we 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254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685800" cy="7772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685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5880" y="1645920"/>
            <a:ext cx="10287000" cy="7772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719072"/>
            <a:ext cx="9875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B0B0C"/>
                </a:solidFill>
                <a:latin typeface="Calibri"/>
              </a:rPr>
              <a:t>Recreate ricoman.com exactly on the new platform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26D"/>
                </a:solidFill>
                <a:latin typeface="Calibri"/>
              </a:rPr>
              <a:t>In progress — confirming each page matches live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60320"/>
            <a:ext cx="685800" cy="7772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60320"/>
            <a:ext cx="685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5880" y="2560320"/>
            <a:ext cx="10287000" cy="7772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633472"/>
            <a:ext cx="9875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B0B0C"/>
                </a:solidFill>
                <a:latin typeface="Calibri"/>
              </a:rPr>
              <a:t>Check &amp; enhance SEO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26D"/>
                </a:solidFill>
                <a:latin typeface="Calibri"/>
              </a:rPr>
              <a:t>Foundations + audit tooling built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74720"/>
            <a:ext cx="685800" cy="777240"/>
          </a:xfrm>
          <a:prstGeom prst="rect">
            <a:avLst/>
          </a:prstGeom>
          <a:solidFill>
            <a:srgbClr val="5B62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74720"/>
            <a:ext cx="685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25880" y="3474720"/>
            <a:ext cx="10287000" cy="7772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3547872"/>
            <a:ext cx="9875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B0B0C"/>
                </a:solidFill>
                <a:latin typeface="Calibri"/>
              </a:rPr>
              <a:t>Launch — migrate the new site to live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26D"/>
                </a:solidFill>
                <a:latin typeface="Calibri"/>
              </a:rPr>
              <a:t>Runbook prepared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89120"/>
            <a:ext cx="685800" cy="77724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389120"/>
            <a:ext cx="685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5880" y="4389120"/>
            <a:ext cx="10287000" cy="7772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4462272"/>
            <a:ext cx="9875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B0B0C"/>
                </a:solidFill>
                <a:latin typeface="Calibri"/>
              </a:rPr>
              <a:t>Feature &amp; enhanced pages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26D"/>
                </a:solidFill>
                <a:latin typeface="Calibri"/>
              </a:rPr>
              <a:t>Built (Casambi, Fire Safety, Trade, …)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303520"/>
            <a:ext cx="685800" cy="777240"/>
          </a:xfrm>
          <a:prstGeom prst="rect">
            <a:avLst/>
          </a:prstGeom>
          <a:solidFill>
            <a:srgbClr val="5B62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303520"/>
            <a:ext cx="685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5880" y="5303520"/>
            <a:ext cx="10287000" cy="7772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5376672"/>
            <a:ext cx="9875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B0B0C"/>
                </a:solidFill>
                <a:latin typeface="Calibri"/>
              </a:rPr>
              <a:t>Reconnect live product data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26D"/>
                </a:solidFill>
                <a:latin typeface="Calibri"/>
              </a:rPr>
              <a:t>Final step, switched on last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26D"/>
                </a:solidFill>
                <a:latin typeface="Calibri"/>
              </a:rPr>
              <a:t>Ricoman — the new website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26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234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D4ED8"/>
                </a:solidFill>
                <a:latin typeface="Calibri"/>
              </a:rPr>
              <a:t>THE BOTTOM LINE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0B0C"/>
                </a:solidFill>
                <a:latin typeface="Calibri"/>
              </a:rPr>
              <a:t>Old site vs new 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254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0" cy="4572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6480" y="1417320"/>
            <a:ext cx="5486400" cy="4572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5120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OLD 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417320"/>
            <a:ext cx="5120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NEW SITE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54864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920240"/>
            <a:ext cx="54864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20240"/>
            <a:ext cx="5212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26D"/>
                </a:solidFill>
                <a:latin typeface="Calibri"/>
              </a:rPr>
              <a:t>248 GB of bloat, 91% duplicate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920240"/>
            <a:ext cx="5212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335C"/>
                </a:solidFill>
                <a:latin typeface="Calibri"/>
              </a:rPr>
              <a:t>Cleaned up, lean media library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68880"/>
            <a:ext cx="5486400" cy="51206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468880"/>
            <a:ext cx="5486400" cy="51206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468880"/>
            <a:ext cx="5212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26D"/>
                </a:solidFill>
                <a:latin typeface="Calibri"/>
              </a:rPr>
              <a:t>Backups failing since ~Oct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468880"/>
            <a:ext cx="5212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335C"/>
                </a:solidFill>
                <a:latin typeface="Calibri"/>
              </a:rPr>
              <a:t>Reliable, fast backups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17520"/>
            <a:ext cx="54864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017520"/>
            <a:ext cx="54864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017520"/>
            <a:ext cx="5212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26D"/>
                </a:solidFill>
                <a:latin typeface="Calibri"/>
              </a:rPr>
              <a:t>Higher, growing hosting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017520"/>
            <a:ext cx="5212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335C"/>
                </a:solidFill>
                <a:latin typeface="Calibri"/>
              </a:rPr>
              <a:t>Lower, predictable hosting cost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566160"/>
            <a:ext cx="5486400" cy="51206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566160"/>
            <a:ext cx="5486400" cy="51206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566160"/>
            <a:ext cx="5212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26D"/>
                </a:solidFill>
                <a:latin typeface="Calibri"/>
              </a:rPr>
              <a:t>Changes needed a developer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566160"/>
            <a:ext cx="5212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335C"/>
                </a:solidFill>
                <a:latin typeface="Calibri"/>
              </a:rPr>
              <a:t>Team edits products &amp; pages themselves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114800"/>
            <a:ext cx="54864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4114800"/>
            <a:ext cx="54864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114800"/>
            <a:ext cx="5212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26D"/>
                </a:solidFill>
                <a:latin typeface="Calibri"/>
              </a:rPr>
              <a:t>A brochure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114800"/>
            <a:ext cx="5212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335C"/>
                </a:solidFill>
                <a:latin typeface="Calibri"/>
              </a:rPr>
              <a:t>Captures leads + builds its own SEO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663440"/>
            <a:ext cx="5486400" cy="51206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4663440"/>
            <a:ext cx="5486400" cy="51206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663440"/>
            <a:ext cx="5212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26D"/>
                </a:solidFill>
                <a:latin typeface="Calibri"/>
              </a:rPr>
              <a:t>No BIM / specifier capture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663440"/>
            <a:ext cx="5212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335C"/>
                </a:solidFill>
                <a:latin typeface="Calibri"/>
              </a:rPr>
              <a:t>"Download BIM file" sends marketing a warm lead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212080"/>
            <a:ext cx="54864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26480" y="5212080"/>
            <a:ext cx="54864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212080"/>
            <a:ext cx="5212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26D"/>
                </a:solidFill>
                <a:latin typeface="Calibri"/>
              </a:rPr>
              <a:t>Bespoke quotes = lots of back-and-forth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5212080"/>
            <a:ext cx="5212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335C"/>
                </a:solidFill>
                <a:latin typeface="Calibri"/>
              </a:rPr>
              <a:t>Flow+ Designer = ready-to-quote scheme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760720"/>
            <a:ext cx="5486400" cy="51206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6480" y="5760720"/>
            <a:ext cx="5486400" cy="51206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760720"/>
            <a:ext cx="5212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26D"/>
                </a:solidFill>
                <a:latin typeface="Calibri"/>
              </a:rPr>
              <a:t>Slower, page-builder overhead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5760720"/>
            <a:ext cx="5212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335C"/>
                </a:solidFill>
                <a:latin typeface="Calibri"/>
              </a:rPr>
              <a:t>Fast, modern, search-friendly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26D"/>
                </a:solidFill>
                <a:latin typeface="Calibri"/>
              </a:rPr>
              <a:t>Ricoman — the new website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26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5400"/>
          </a:xfrm>
          <a:prstGeom prst="rect">
            <a:avLst/>
          </a:prstGeom>
          <a:solidFill>
            <a:srgbClr val="2C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The new website is faster, cheaper to run, more reliable and easier to manage 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6EC"/>
                </a:solidFill>
                <a:latin typeface="Calibri"/>
              </a:rPr>
              <a:t>and it actively works to win business, while having quietly fixed serious technical debt the old site was hiding.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