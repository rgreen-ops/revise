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THE NEW RICOMAN WEBSITE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6EC"/>
                </a:solidFill>
                <a:latin typeface="Calibri"/>
              </a:rPr>
              <a:t>Faster, cheaper to run, more reliable — and it wins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2D4"/>
                </a:solidFill>
                <a:latin typeface="Calibri"/>
              </a:rPr>
              <a:t>A plain-English summary for the leadership 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F95BF"/>
                </a:solidFill>
                <a:latin typeface="Calibri"/>
              </a:rPr>
              <a:t>No technical knowledge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" cy="2926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024128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0B0B0C"/>
                </a:solidFill>
                <a:latin typeface="Calibri"/>
              </a:rPr>
              <a:t>We haven't just repainted ricoman.com.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6335C"/>
                </a:solidFill>
                <a:latin typeface="Calibri"/>
              </a:rPr>
              <a:t>We rebuilt it on modern foundations that are faster for customers, cheaper and more reliable to run, and far easier for the team to keep up to date — while quietly fixing years of hidden technical problems. And it does real commercial work: it captures sales leads, builds its own SEO, and lets customers design and specify products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FASTER &amp; CHEAPER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MORE RELIABLE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WINS BUSINESS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1 · WHAT WE FIXED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Years of hidden technical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Invisible from the front end — but costing money and putting the business at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75,911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images in the old media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were exact duplicates (69,315)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248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of bloat — backups failing since ~Oct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11064240" cy="20116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146304" cy="2011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The fix — and the payoff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Built-in Media Cleanup</a:t>
            </a:r>
            <a:r>
              <a:rPr sz="1500" b="0">
                <a:solidFill>
                  <a:srgbClr val="5B626D"/>
                </a:solidFill>
                <a:latin typeface="Calibri"/>
              </a:rPr>
              <a:t>  removed the duplicates safely.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Backups reliable again</a:t>
            </a:r>
            <a:r>
              <a:rPr sz="1500" b="0">
                <a:solidFill>
                  <a:srgbClr val="5B626D"/>
                </a:solidFill>
                <a:latin typeface="Calibri"/>
              </a:rPr>
              <a:t>  smaller, faster, and actually completing.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Lower, predictable hosting cost</a:t>
            </a:r>
            <a:r>
              <a:rPr sz="1500" b="0">
                <a:solidFill>
                  <a:srgbClr val="5B626D"/>
                </a:solidFill>
                <a:latin typeface="Calibri"/>
              </a:rPr>
              <a:t>  we store a fraction of the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BY THE NUMBERS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→ new site, in real figures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MEDIA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75,911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▼  −91%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6,596 unique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DUPLICATE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69,315 dupes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removed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0 duplicates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1600200"/>
            <a:ext cx="352044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HOSTING BACKUPS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583" y="205740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248 GB, failing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2441448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715768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Reliable backups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0B0C"/>
                </a:solidFill>
                <a:latin typeface="Calibri"/>
              </a:rPr>
              <a:t>What changed for the business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91% of the media library was waste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69,315 of 75,911 images were exact duplicates from the old variant import.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Backups had been failing since ~Oct 2025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ballooned to 248 GB; cleaning the duplicates made them reliable again.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Lead capture: none → 5 routes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download gate, BIM request, newsletter, callback and saved-project packs.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Product edits: developer-only → self-serve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the team now edits spec tables and pages with no code.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Figures from the media-cleanup audit of the migrated database. Live page-speed scores are measured at launch via the built-in SEO &amp; Speed tool.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2 · EASIER TO 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team runs it themselves — no developer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Self-serve product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Edit the spec and variant tables (including which columns show) and drop content blocks into any product page — no code.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Editable landing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Casambi, Human Centric, Fire Safety, Made in Britain, Sustainability, Trade and more are all built from editable blocks.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One-click content tools</a:t>
            </a:r>
            <a:r>
              <a:rPr sz="1800" b="0">
                <a:solidFill>
                  <a:srgbClr val="5B626D"/>
                </a:solidFill>
                <a:latin typeface="Calibri"/>
              </a:rPr>
              <a:t>  for SEO copy and page layouts — they fill in starter content but never overwrite anything the team has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3 · IT MARKETS ITSELF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Search visibility, built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Automatic internal link-building.</a:t>
            </a:r>
            <a:r>
              <a:rPr sz="1600" b="0">
                <a:solidFill>
                  <a:srgbClr val="5B626D"/>
                </a:solidFill>
                <a:latin typeface="Calibri"/>
              </a:rPr>
              <a:t>  News and project stories auto-link relevant terms to the right product, category and sector pages.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Spec filtering for specifiers.</a:t>
            </a:r>
            <a:r>
              <a:rPr sz="1600" b="0">
                <a:solidFill>
                  <a:srgbClr val="5B626D"/>
                </a:solidFill>
                <a:latin typeface="Calibri"/>
              </a:rPr>
              <a:t>  Filter category pages by light output (lumens) and power (wattage) from the real product data.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Keyword-rich landing pages.</a:t>
            </a:r>
            <a:r>
              <a:rPr sz="1600" b="0">
                <a:solidFill>
                  <a:srgbClr val="5B626D"/>
                </a:solidFill>
                <a:latin typeface="Calibri"/>
              </a:rPr>
              <a:t>  Each category and key page has its own SEO title, description and intro/FAQ copy.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Rich Google results.</a:t>
            </a:r>
            <a:r>
              <a:rPr sz="1600" b="0">
                <a:solidFill>
                  <a:srgbClr val="5B626D"/>
                </a:solidFill>
                <a:latin typeface="Calibri"/>
              </a:rPr>
              <a:t>  Structured data for enhanced listings — business details, products, breadcrumbs and FAQs in search.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Built-in SEO health check.</a:t>
            </a:r>
            <a:r>
              <a:rPr sz="1600" b="0">
                <a:solidFill>
                  <a:srgbClr val="5B626D"/>
                </a:solidFill>
                <a:latin typeface="Calibri"/>
              </a:rPr>
              <a:t>  See at a glance which pages need 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4 · IT CAPTURES SALES LEADS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An active sales tool, not a brochure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Download gate.</a:t>
            </a:r>
            <a:r>
              <a:rPr sz="1500" b="0">
                <a:solidFill>
                  <a:srgbClr val="5B626D"/>
                </a:solidFill>
                <a:latin typeface="Calibri"/>
              </a:rPr>
              <a:t>  Document downloads ask for name, email and customer type — turning anonymous traffic into named leads.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Newsletter &amp; request-a-callback</a:t>
            </a:r>
            <a:r>
              <a:rPr sz="1500" b="0">
                <a:solidFill>
                  <a:srgbClr val="5B626D"/>
                </a:solidFill>
                <a:latin typeface="Calibri"/>
              </a:rPr>
              <a:t>  forms feed the same pipeline.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Every lead in one place.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leads dashboard (type, contact, source, date) that can sync to a spreadsheet / CRM.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Saved projects &amp; project packs</a:t>
            </a:r>
            <a:r>
              <a:rPr sz="1500" b="0">
                <a:solidFill>
                  <a:srgbClr val="5B626D"/>
                </a:solidFill>
                <a:latin typeface="Calibri"/>
              </a:rPr>
              <a:t>  — customers save lists and download a zipped pack of datasheets, instructions and photometric files.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983480"/>
            <a:ext cx="11064240" cy="1143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983480"/>
            <a:ext cx="146304" cy="1143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"Download BIM file" on every product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6EC"/>
                </a:solidFill>
                <a:latin typeface="Calibri"/>
              </a:rPr>
              <a:t>Specifiers drop BIM/Revit files straight into their building models — high-intent. Each request is logged as a lead and emailed to marketing with the exact product being specified. The moment a designer reaches for our product, marketing gets a warm lead.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5 · CUSTOMERS DESIGN THEIR OWN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Flow+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A full-screen, in-browser tool to design a bespoke curved linear scheme — self-serve.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Draw the run.</a:t>
            </a:r>
            <a:r>
              <a:rPr sz="1500" b="0">
                <a:solidFill>
                  <a:srgbClr val="5B626D"/>
                </a:solidFill>
                <a:latin typeface="Calibri"/>
              </a:rPr>
              <a:t>  Drag in straights, curves and corners to any shape and custom length, with auto-snap so pieces join cleanly.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Design to scale on a real plan.</a:t>
            </a:r>
            <a:r>
              <a:rPr sz="1500" b="0">
                <a:solidFill>
                  <a:srgbClr val="5B626D"/>
                </a:solidFill>
                <a:latin typeface="Calibri"/>
              </a:rPr>
              <a:t>  Upload a CAD drawing / floor plan, set the scale, and lay the lighting out over the actual 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Choose the spec.</a:t>
            </a:r>
            <a:r>
              <a:rPr sz="1500" b="0">
                <a:solidFill>
                  <a:srgbClr val="5B626D"/>
                </a:solidFill>
                <a:latin typeface="Calibri"/>
              </a:rPr>
              <a:t>  Colour temperature, DALI / Casambi dimming, drivers, RAL finish and emergency packs.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Instant 'Take Off'.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live parts list with the correct Ricoman order codes — so what they design is exactly what we quote and build.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Export &amp; save</a:t>
            </a:r>
            <a:r>
              <a:rPr sz="1500" b="0">
                <a:solidFill>
                  <a:srgbClr val="5B626D"/>
                </a:solidFill>
                <a:latin typeface="Calibri"/>
              </a:rPr>
              <a:t>  as an image or take-off, and save straight to their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4630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35C"/>
                </a:solidFill>
                <a:latin typeface="Calibri"/>
              </a:rPr>
              <a:t>Why it matters:  bespoke quoting used to mean lots of back-and-forth. Now the customer arrives with a ready-to-quote, fully specified design — shorter sales cycle, fewer errors, a detailed high-intent enquiry.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6 · PERFORMANCE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Faster — and built to stay fast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B0B0C"/>
                </a:solidFill>
                <a:latin typeface="Calibri"/>
              </a:rPr>
              <a:t>Rendered natively and efficiently — no heavy page-builder overhead.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35C"/>
                </a:solidFill>
                <a:latin typeface="Calibri"/>
              </a:rPr>
              <a:t>Images are served in modern, lightweight formats, and each page loads only the code it needs. The result: a quicker experience for customers and better search rankings (Google factors in page speed).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Google PageSpeed — old site vs new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Google Lighthouse performance score (0–100) and core load metrics, measured on the homepage.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Mobile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B32D2E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Desktop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996800"/>
                </a:solidFill>
                <a:latin typeface="Calibri"/>
              </a:rPr>
              <a:t>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685800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Metric (mobile)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25112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25112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Largest Contentful Paint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12.4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2.3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64024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64024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Total Blocking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3,270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0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02936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664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0976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202936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Speed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12.1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5.6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41848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641848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First Contentful Paint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2.8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1.2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Source: Google Lighthouse (the engine behind PageSpeed Insights), homepage, Jun 2026. Lab data; field scores vary by device/network.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6459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7190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Recreate ricoman.com exactly on the new platform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In progress — confirming each page matches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25603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6334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Check &amp; enhance SEO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Foundations + audit tooling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34747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35478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Launch — migrate the new site to live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Runbook prepared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43891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4622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Feature &amp; enhanced pages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Built (Casambi, Fire Safety, Trade, …)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35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3766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Reconnect live product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Final step, switched on last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THE BOTTOM LINE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vs new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1417320"/>
            <a:ext cx="5486400" cy="4572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OLD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NEW SITE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248 GB of bloat, 91% duplicate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Cleaned up, lean media 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Backups failing since ~Oct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Reliable, fast backups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Higher, growing hosting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Lower, predictable hosting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Changes needed a developer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Team edits products &amp; pages themselves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A brochure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Captures leads + builds its own SEO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No BIM / specifier capture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"Download BIM file" sends marketing a warm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Bespoke quotes = lots of back-and-forth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Flow+ Designer = ready-to-quote scheme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Slower, page-builder overhead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Fast, modern, search-friendly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The new website is faster, cheaper to run, more reliable and easier to manage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9D6EC"/>
                </a:solidFill>
                <a:latin typeface="Calibri"/>
              </a:rPr>
              <a:t>and it actively works to win business, while having quietly fixed serious technical debt the old site was hiding.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