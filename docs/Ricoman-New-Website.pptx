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00"/>
            <a:ext cx="12191695" cy="25400"/>
          </a:xfrm>
          <a:prstGeom prst="rect">
            <a:avLst/>
          </a:prstGeom>
          <a:solidFill>
            <a:srgbClr val="2C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THE NEW RICOMAN WEBSITE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9D6EC"/>
                </a:solidFill>
                <a:latin typeface="Calibri"/>
              </a:rPr>
              <a:t>Faster, cheaper to run, more reliable — and it wins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2D4"/>
                </a:solidFill>
                <a:latin typeface="Calibri"/>
              </a:rPr>
              <a:t>A plain-English summary for the leadership report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F95BF"/>
                </a:solidFill>
                <a:latin typeface="Calibri"/>
              </a:rPr>
              <a:t>No technical knowledge needed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OVERVIEW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In one sentence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" cy="29260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1024128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0B0B0C"/>
                </a:solidFill>
                <a:latin typeface="Calibri"/>
              </a:rPr>
              <a:t>We haven't just repainted ricoman.com.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6335C"/>
                </a:solidFill>
                <a:latin typeface="Calibri"/>
              </a:rPr>
              <a:t>We rebuilt it on modern foundations that are faster for customers, cheaper and more reliable to run, and far easier for the team to keep up to date — while quietly fixing years of hidden technical problems. And it does real commercial work: it captures sales leads, builds its own SEO, and lets customers design and specify products themselves.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46320"/>
            <a:ext cx="3566160" cy="86868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FASTER &amp; CHEAPER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4846320"/>
            <a:ext cx="3566160" cy="86868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5112" y="4846320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MORE RELIABLE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1584" y="4846320"/>
            <a:ext cx="3566160" cy="8686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4" y="4846320"/>
            <a:ext cx="3566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WINS BUSINESS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1 · WHAT WE FIXED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Years of hidden technical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26D"/>
                </a:solidFill>
                <a:latin typeface="Calibri"/>
              </a:rPr>
              <a:t>Invisible from the front end — but costing money and putting the business at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66160" cy="15544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75,911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D6EC"/>
                </a:solidFill>
                <a:latin typeface="Calibri"/>
              </a:rPr>
              <a:t>images in the old media library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5112" y="2011680"/>
            <a:ext cx="3566160" cy="15544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21488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91%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9718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D6EC"/>
                </a:solidFill>
                <a:latin typeface="Calibri"/>
              </a:rPr>
              <a:t>were exact duplicates (69,315)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1584" y="2011680"/>
            <a:ext cx="3566160" cy="155448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4" y="214884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248 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9718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D6EC"/>
                </a:solidFill>
                <a:latin typeface="Calibri"/>
              </a:rPr>
              <a:t>of bloat — backups failing since ~Oct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11064240" cy="20116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146304" cy="201168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148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The fix — and the payoff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6344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Built-in Media Cleanup</a:t>
            </a:r>
            <a:r>
              <a:rPr sz="1500" b="0">
                <a:solidFill>
                  <a:srgbClr val="5B626D"/>
                </a:solidFill>
                <a:latin typeface="Calibri"/>
              </a:rPr>
              <a:t>  removed the duplicates safely.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Backups reliable again</a:t>
            </a:r>
            <a:r>
              <a:rPr sz="1500" b="0">
                <a:solidFill>
                  <a:srgbClr val="5B626D"/>
                </a:solidFill>
                <a:latin typeface="Calibri"/>
              </a:rPr>
              <a:t>  smaller, faster, and actually completing.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Lower, predictable hosting cost</a:t>
            </a:r>
            <a:r>
              <a:rPr sz="1500" b="0">
                <a:solidFill>
                  <a:srgbClr val="5B626D"/>
                </a:solidFill>
                <a:latin typeface="Calibri"/>
              </a:rPr>
              <a:t>  we store a fraction of the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BY THE NUMBERS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Old site → new site, in real figures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5661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566160" cy="384048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3566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MEDIA 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B626D"/>
                </a:solidFill>
                <a:latin typeface="Calibri"/>
              </a:rPr>
              <a:t>75,911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▼  −91%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15768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A7F37"/>
                </a:solidFill>
                <a:latin typeface="Calibri"/>
              </a:rPr>
              <a:t>6,596 unique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600200"/>
            <a:ext cx="35661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00200"/>
            <a:ext cx="3566160" cy="384048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600200"/>
            <a:ext cx="3566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DUPLICATE IMAGES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B626D"/>
                </a:solidFill>
                <a:latin typeface="Calibri"/>
              </a:rPr>
              <a:t>69,315 dupes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2441448"/>
            <a:ext cx="3566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removed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715768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A7F37"/>
                </a:solidFill>
                <a:latin typeface="Calibri"/>
              </a:rPr>
              <a:t>0 duplicates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3" y="1600200"/>
            <a:ext cx="352044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1583" y="1600200"/>
            <a:ext cx="3520440" cy="384048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1583" y="1600200"/>
            <a:ext cx="35204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HOSTING BACKUPS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1583" y="205740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5B626D"/>
                </a:solidFill>
                <a:latin typeface="Calibri"/>
              </a:rPr>
              <a:t>248 GB, failing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01583" y="2441448"/>
            <a:ext cx="3520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fixed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3" y="2715768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A7F37"/>
                </a:solidFill>
                <a:latin typeface="Calibri"/>
              </a:rPr>
              <a:t>Reliable backups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49039"/>
            <a:ext cx="11064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4F6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8862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0B0C"/>
                </a:solidFill>
                <a:latin typeface="Calibri"/>
              </a:rPr>
              <a:t>What changed for the business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8912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91% of the media library was waste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69,315 of 75,911 images were exact duplicates from the old variant import.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Backups had been failing since ~Oct 2025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ballooned to 248 GB; cleaning the duplicates made them reliable again.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Lead capture: none → 5 routes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download gate, BIM request, newsletter, callback and saved-project packs.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>
                <a:solidFill>
                  <a:srgbClr val="0B0B0C"/>
                </a:solidFill>
                <a:latin typeface="Calibri"/>
              </a:rPr>
              <a:t>▸ Product edits: developer-only → self-serve</a:t>
            </a:r>
            <a:r>
              <a:rPr sz="1350" b="0">
                <a:solidFill>
                  <a:srgbClr val="5B626D"/>
                </a:solidFill>
                <a:latin typeface="Calibri"/>
              </a:rPr>
              <a:t>  — the team now edits spec tables and pages with no code.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26D"/>
                </a:solidFill>
                <a:latin typeface="Calibri"/>
              </a:rPr>
              <a:t>Figures from the media-cleanup audit of the migrated database. Live page-speed scores are measured at launch via the built-in SEO &amp; Speed tool.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2 · EASIER TO RUN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The team runs it themselves — no developer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▸ Self-serve product pages.</a:t>
            </a:r>
            <a:r>
              <a:rPr sz="1800" b="0">
                <a:solidFill>
                  <a:srgbClr val="5B626D"/>
                </a:solidFill>
                <a:latin typeface="Calibri"/>
              </a:rPr>
              <a:t>  Edit the spec and variant tables (including which columns show) and drop content blocks into any product page — no code.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▸ Editable landing pages.</a:t>
            </a:r>
            <a:r>
              <a:rPr sz="1800" b="0">
                <a:solidFill>
                  <a:srgbClr val="5B626D"/>
                </a:solidFill>
                <a:latin typeface="Calibri"/>
              </a:rPr>
              <a:t>  Casambi, Human Centric, Fire Safety, Made in Britain, Sustainability, Trade and more are all built from editable blocks.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800" b="1">
                <a:solidFill>
                  <a:srgbClr val="0B0B0C"/>
                </a:solidFill>
                <a:latin typeface="Calibri"/>
              </a:rPr>
              <a:t>▸ One-click content tools</a:t>
            </a:r>
            <a:r>
              <a:rPr sz="1800" b="0">
                <a:solidFill>
                  <a:srgbClr val="5B626D"/>
                </a:solidFill>
                <a:latin typeface="Calibri"/>
              </a:rPr>
              <a:t>  for SEO copy and page layouts — they fill in starter content but never overwrite anything the team has written.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3 · IT MARKETS ITSELF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Search visibility, built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Automatic internal link-building.</a:t>
            </a:r>
            <a:r>
              <a:rPr sz="1600" b="0">
                <a:solidFill>
                  <a:srgbClr val="5B626D"/>
                </a:solidFill>
                <a:latin typeface="Calibri"/>
              </a:rPr>
              <a:t>  News and project stories auto-link relevant terms to the right product, category and sector pages.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Spec filtering for specifiers.</a:t>
            </a:r>
            <a:r>
              <a:rPr sz="1600" b="0">
                <a:solidFill>
                  <a:srgbClr val="5B626D"/>
                </a:solidFill>
                <a:latin typeface="Calibri"/>
              </a:rPr>
              <a:t>  Filter category pages by light output (lumens) and power (wattage) from the real product data.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Keyword-rich landing pages.</a:t>
            </a:r>
            <a:r>
              <a:rPr sz="1600" b="0">
                <a:solidFill>
                  <a:srgbClr val="5B626D"/>
                </a:solidFill>
                <a:latin typeface="Calibri"/>
              </a:rPr>
              <a:t>  Each category and key page has its own SEO title, description and intro/FAQ copy.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Rich Google results.</a:t>
            </a:r>
            <a:r>
              <a:rPr sz="1600" b="0">
                <a:solidFill>
                  <a:srgbClr val="5B626D"/>
                </a:solidFill>
                <a:latin typeface="Calibri"/>
              </a:rPr>
              <a:t>  Structured data for enhanced listings — business details, products, breadcrumbs and FAQs in search.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▸ Built-in SEO health check.</a:t>
            </a:r>
            <a:r>
              <a:rPr sz="1600" b="0">
                <a:solidFill>
                  <a:srgbClr val="5B626D"/>
                </a:solidFill>
                <a:latin typeface="Calibri"/>
              </a:rPr>
              <a:t>  See at a glance which pages need attention.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4 · IT CAPTURES SALES LEADS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An active sales tool, not a brochure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Download gate.</a:t>
            </a:r>
            <a:r>
              <a:rPr sz="1500" b="0">
                <a:solidFill>
                  <a:srgbClr val="5B626D"/>
                </a:solidFill>
                <a:latin typeface="Calibri"/>
              </a:rPr>
              <a:t>  Document downloads ask for name, email and customer type — turning anonymous traffic into named leads.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Newsletter &amp; request-a-callback</a:t>
            </a:r>
            <a:r>
              <a:rPr sz="1500" b="0">
                <a:solidFill>
                  <a:srgbClr val="5B626D"/>
                </a:solidFill>
                <a:latin typeface="Calibri"/>
              </a:rPr>
              <a:t>  forms feed the same pipeline.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Every lead in one place.</a:t>
            </a:r>
            <a:r>
              <a:rPr sz="1500" b="0">
                <a:solidFill>
                  <a:srgbClr val="5B626D"/>
                </a:solidFill>
                <a:latin typeface="Calibri"/>
              </a:rPr>
              <a:t>  A leads dashboard (type, contact, source, date) that can sync to a spreadsheet / CRM.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Saved projects &amp; project packs</a:t>
            </a:r>
            <a:r>
              <a:rPr sz="1500" b="0">
                <a:solidFill>
                  <a:srgbClr val="5B626D"/>
                </a:solidFill>
                <a:latin typeface="Calibri"/>
              </a:rPr>
              <a:t>  — customers save lists and download a zipped pack of datasheets, instructions and photometric files.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983480"/>
            <a:ext cx="11064240" cy="114300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983480"/>
            <a:ext cx="146304" cy="1143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515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"Download BIM file" on every product page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D6EC"/>
                </a:solidFill>
                <a:latin typeface="Calibri"/>
              </a:rPr>
              <a:t>Specifiers drop BIM/Revit files straight into their building models — high-intent. Each request is logged as a lead and emailed to marketing with the exact product being specified. The moment a designer reaches for our product, marketing gets a warm lead.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5 · CUSTOMERS DESIGN THEIR OWN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The Flow+ Designer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26D"/>
                </a:solidFill>
                <a:latin typeface="Calibri"/>
              </a:rPr>
              <a:t>A full-screen, in-browser tool to design a bespoke curved linear scheme — self-serve.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Draw the run.</a:t>
            </a:r>
            <a:r>
              <a:rPr sz="1500" b="0">
                <a:solidFill>
                  <a:srgbClr val="5B626D"/>
                </a:solidFill>
                <a:latin typeface="Calibri"/>
              </a:rPr>
              <a:t>  Drag in straights, curves and corners to any shape and custom length, with auto-snap so pieces join cleanly.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Design to scale on a real plan.</a:t>
            </a:r>
            <a:r>
              <a:rPr sz="1500" b="0">
                <a:solidFill>
                  <a:srgbClr val="5B626D"/>
                </a:solidFill>
                <a:latin typeface="Calibri"/>
              </a:rPr>
              <a:t>  Upload a CAD drawing / floor plan, set the scale, and lay the lighting out over the actual space.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Choose the spec.</a:t>
            </a:r>
            <a:r>
              <a:rPr sz="1500" b="0">
                <a:solidFill>
                  <a:srgbClr val="5B626D"/>
                </a:solidFill>
                <a:latin typeface="Calibri"/>
              </a:rPr>
              <a:t>  Colour temperature, DALI / Casambi dimming, drivers, RAL finish and emergency packs.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Instant 'Take Off'.</a:t>
            </a:r>
            <a:r>
              <a:rPr sz="1500" b="0">
                <a:solidFill>
                  <a:srgbClr val="5B626D"/>
                </a:solidFill>
                <a:latin typeface="Calibri"/>
              </a:rPr>
              <a:t>  A live parts list with the correct Ricoman order codes — so what they design is exactly what we quote and build.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0B0B0C"/>
                </a:solidFill>
                <a:latin typeface="Calibri"/>
              </a:rPr>
              <a:t>▸ Export &amp; save</a:t>
            </a:r>
            <a:r>
              <a:rPr sz="1500" b="0">
                <a:solidFill>
                  <a:srgbClr val="5B626D"/>
                </a:solidFill>
                <a:latin typeface="Calibri"/>
              </a:rPr>
              <a:t>  as an image or take-off, and save straight to their project.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146304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424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335C"/>
                </a:solidFill>
                <a:latin typeface="Calibri"/>
              </a:rPr>
              <a:t>Why it matters:  bespoke quoting used to mean lots of back-and-forth. Now the customer arrives with a ready-to-quote, fully specified design — shorter sales cycle, fewer errors, a detailed high-intent enquiry.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6 · PERFORMANCE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Faster — and built to stay fast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0B0B0C"/>
                </a:solidFill>
                <a:latin typeface="Calibri"/>
              </a:rPr>
              <a:t>Rendered natively and efficiently — no heavy page-builder overhead.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335C"/>
                </a:solidFill>
                <a:latin typeface="Calibri"/>
              </a:rPr>
              <a:t>Images are served in modern, lightweight formats, and each page loads only the code it needs. The result: a quicker experience for customers and better search rankings (Google factors in page speed).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MEASURED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Google PageSpeed — old site vs new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26D"/>
                </a:solidFill>
                <a:latin typeface="Calibri"/>
              </a:rPr>
              <a:t>Google Lighthouse performance score (0–100) and core load metrics, measured on the homepage.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0B0C"/>
                </a:solidFill>
                <a:latin typeface="Calibri"/>
              </a:rPr>
              <a:t>Mobile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OLD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B32D2E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NEW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A7F37"/>
                </a:solidFill>
                <a:latin typeface="Calibri"/>
              </a:rPr>
              <a:t>93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394960" cy="1783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0B0C"/>
                </a:solidFill>
                <a:latin typeface="Calibri"/>
              </a:rPr>
              <a:t>Desktop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OLD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996800"/>
                </a:solidFill>
                <a:latin typeface="Calibri"/>
              </a:rPr>
              <a:t>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69748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D4ED8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468880"/>
            <a:ext cx="1828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26D"/>
                </a:solidFill>
                <a:latin typeface="Calibri"/>
              </a:rPr>
              <a:t>NEW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1A7F37"/>
                </a:solidFill>
                <a:latin typeface="Calibri"/>
              </a:rPr>
              <a:t>96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86200"/>
            <a:ext cx="685800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3886200"/>
            <a:ext cx="210312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09760" y="3886200"/>
            <a:ext cx="2103120" cy="420624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86200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Metric (mobile)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88620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886200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25112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640" y="4325112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9760" y="4325112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325112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Largest Contentful Paint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325112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12.4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325112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2.3 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64024"/>
            <a:ext cx="685800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06640" y="4764024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9760" y="4764024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764024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Total Blocking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4764024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3,270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4764024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0 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02936"/>
            <a:ext cx="68580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6640" y="5202936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09760" y="5202936"/>
            <a:ext cx="2103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202936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Speed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520293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12.1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5202936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5.6 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41848"/>
            <a:ext cx="685800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06640" y="5641848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0" y="5641848"/>
            <a:ext cx="2103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641848"/>
            <a:ext cx="6583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First Contentful Paint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564184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2.8 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5641848"/>
            <a:ext cx="1828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1.2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26D"/>
                </a:solidFill>
                <a:latin typeface="Calibri"/>
              </a:rPr>
              <a:t>Source: Google Lighthouse (the engine behind PageSpeed Insights), homepage, Jun 2026. Lab data; field scores vary by device/network.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MEASURED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What those PageSpeed numbers mean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26D"/>
                </a:solidFill>
                <a:latin typeface="Calibri"/>
              </a:rPr>
              <a:t>In plain English — what each measure is, and what changed.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Score /100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32 → 93 (mobile)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7451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A speed exam mark. 32 is a fail; 93 is a top grade. Google uses this mark to help decide search rankings.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5175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5175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5175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Main image appears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12.4s → 2.3s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5175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How long before the main content shows on a phone. It took over 12 seconds; now about 2. Most people won't wait past 3.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2899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42899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42899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Page responds to taps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3.3s → instant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42899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How long the page is frozen and ignores taps while loading. It used to lock up for ~3 seconds; now it reacts straight away.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0623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0623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0623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Page looks finished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12.1s → 5.6s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20623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How quickly the page visually fills in and looks done — now less than half the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83479"/>
            <a:ext cx="11064240" cy="71323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983479"/>
            <a:ext cx="91440" cy="71323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983479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B0B0C"/>
                </a:solidFill>
                <a:latin typeface="Calibri"/>
              </a:rPr>
              <a:t>You see something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7F37"/>
                </a:solidFill>
                <a:latin typeface="Calibri"/>
              </a:rPr>
              <a:t>2.8s → 1.2s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983479"/>
            <a:ext cx="77724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335C"/>
                </a:solidFill>
                <a:latin typeface="Calibri"/>
              </a:rPr>
              <a:t>How soon anything at all appears on screen, so it doesn't feel blank.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897880"/>
            <a:ext cx="11064240" cy="566928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Bottom line: the old site was slow enough on phones to push visitors away; the new one loads fast and stays responsive — which means better Google rankings and more enquiries.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ROADMAP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Where we 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685800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6459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17190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Recreate ricoman.com exactly on the new platform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In progress — confirming each page matches live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685800" cy="7772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25603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26334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Check &amp; enhance SEO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Foundations + audit tooling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74720"/>
            <a:ext cx="685800" cy="777240"/>
          </a:xfrm>
          <a:prstGeom prst="rect">
            <a:avLst/>
          </a:prstGeom>
          <a:solidFill>
            <a:srgbClr val="5B6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34747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35478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Launch — migrate the new site to live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Runbook prepared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89120"/>
            <a:ext cx="685800" cy="77724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891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5880" y="43891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44622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Feature &amp; enhanced pages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Built (Casambi, Fire Safety, Trade, …)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303520"/>
            <a:ext cx="685800" cy="777240"/>
          </a:xfrm>
          <a:prstGeom prst="rect">
            <a:avLst/>
          </a:prstGeom>
          <a:solidFill>
            <a:srgbClr val="5B62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03520"/>
            <a:ext cx="685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303520"/>
            <a:ext cx="1028700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376672"/>
            <a:ext cx="9875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B0B0C"/>
                </a:solidFill>
                <a:latin typeface="Calibri"/>
              </a:rPr>
              <a:t>Reconnect live product data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26D"/>
                </a:solidFill>
                <a:latin typeface="Calibri"/>
              </a:rPr>
              <a:t>Final step, switched on last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THE BOTTOM LINE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B0B0C"/>
                </a:solidFill>
                <a:latin typeface="Calibri"/>
              </a:rPr>
              <a:t>Old site vs new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1064240" cy="25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5486400" cy="4572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6480" y="1417320"/>
            <a:ext cx="5486400" cy="4572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OLD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417320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NEW SITE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92024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248 GB of bloat, 91% duplicate images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Cleaned up, lean media library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46888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46888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4688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Backups failing since ~Oct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4688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Reliable, fast backups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1752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01752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175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Higher, growing hosting 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175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Lower, predictable hosting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6616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56616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Changes needed a developer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56616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Team edits products &amp; pages themselves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411480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1480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A brochure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11480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Captures leads + builds its own SEO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466344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6634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No BIM / specifier capture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66344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"Download BIM file" sends marketing a warm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21208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0" y="5212080"/>
            <a:ext cx="5486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2120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Bespoke quotes = lots of back-and-forth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21208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Flow+ Designer = ready-to-quote scheme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6072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5760720"/>
            <a:ext cx="5486400" cy="51206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7607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26D"/>
                </a:solidFill>
                <a:latin typeface="Calibri"/>
              </a:rPr>
              <a:t>Slower, page-builder overhead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760720"/>
            <a:ext cx="5212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335C"/>
                </a:solidFill>
                <a:latin typeface="Calibri"/>
              </a:rPr>
              <a:t>Fast, modern, search-friendly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26D"/>
                </a:solidFill>
                <a:latin typeface="Calibri"/>
              </a:rPr>
              <a:t>Ricoman — the new website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8992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B626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5400"/>
          </a:xfrm>
          <a:prstGeom prst="rect">
            <a:avLst/>
          </a:prstGeom>
          <a:solidFill>
            <a:srgbClr val="2C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The new website is faster, cheaper to run, more reliable and easier to manage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9D6EC"/>
                </a:solidFill>
                <a:latin typeface="Calibri"/>
              </a:rPr>
              <a:t>and it actively works to win business, while having quietly fixed serious technical debt the old site was hiding.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